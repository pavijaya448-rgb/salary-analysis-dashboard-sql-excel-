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Inria Serif" panose="020B0604020202020204" charset="0"/>
      <p:regular r:id="rId15"/>
    </p:embeddedFont>
    <p:embeddedFont>
      <p:font typeface="Inria Serif Bold" panose="020B0604020202020204" charset="0"/>
      <p:regular r:id="rId16"/>
    </p:embeddedFont>
    <p:embeddedFont>
      <p:font typeface="The Seasons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82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sv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12.png"/><Relationship Id="rId4" Type="http://schemas.openxmlformats.org/officeDocument/2006/relationships/image" Target="../media/image3.sv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5.png"/><Relationship Id="rId5" Type="http://schemas.openxmlformats.org/officeDocument/2006/relationships/image" Target="../media/image4.png"/><Relationship Id="rId10" Type="http://schemas.openxmlformats.org/officeDocument/2006/relationships/image" Target="../media/image14.png"/><Relationship Id="rId4" Type="http://schemas.openxmlformats.org/officeDocument/2006/relationships/image" Target="../media/image3.sv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17171" y="-749141"/>
            <a:ext cx="22722343" cy="22722343"/>
          </a:xfrm>
          <a:custGeom>
            <a:avLst/>
            <a:gdLst/>
            <a:ahLst/>
            <a:cxnLst/>
            <a:rect l="l" t="t" r="r" b="b"/>
            <a:pathLst>
              <a:path w="22722343" h="22722343">
                <a:moveTo>
                  <a:pt x="0" y="0"/>
                </a:moveTo>
                <a:lnTo>
                  <a:pt x="22722342" y="0"/>
                </a:lnTo>
                <a:lnTo>
                  <a:pt x="22722342" y="22722343"/>
                </a:lnTo>
                <a:lnTo>
                  <a:pt x="0" y="22722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09487" y="0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90"/>
                </a:lnTo>
                <a:lnTo>
                  <a:pt x="0" y="119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595903" y="0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90"/>
                </a:lnTo>
                <a:lnTo>
                  <a:pt x="0" y="119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612741" y="-749141"/>
            <a:ext cx="13929934" cy="14006333"/>
          </a:xfrm>
          <a:custGeom>
            <a:avLst/>
            <a:gdLst/>
            <a:ahLst/>
            <a:cxnLst/>
            <a:rect l="l" t="t" r="r" b="b"/>
            <a:pathLst>
              <a:path w="13929934" h="14006333">
                <a:moveTo>
                  <a:pt x="0" y="0"/>
                </a:moveTo>
                <a:lnTo>
                  <a:pt x="13929935" y="0"/>
                </a:lnTo>
                <a:lnTo>
                  <a:pt x="13929935" y="14006333"/>
                </a:lnTo>
                <a:lnTo>
                  <a:pt x="0" y="140063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4178048" y="8150955"/>
            <a:ext cx="13824154" cy="8043144"/>
          </a:xfrm>
          <a:custGeom>
            <a:avLst/>
            <a:gdLst/>
            <a:ahLst/>
            <a:cxnLst/>
            <a:rect l="l" t="t" r="r" b="b"/>
            <a:pathLst>
              <a:path w="13824154" h="8043144">
                <a:moveTo>
                  <a:pt x="0" y="0"/>
                </a:moveTo>
                <a:lnTo>
                  <a:pt x="13824154" y="0"/>
                </a:lnTo>
                <a:lnTo>
                  <a:pt x="13824154" y="8043144"/>
                </a:lnTo>
                <a:lnTo>
                  <a:pt x="0" y="80431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493468" y="1801967"/>
            <a:ext cx="9301065" cy="4180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679"/>
              </a:lnSpc>
            </a:pPr>
            <a:r>
              <a:rPr lang="en-US" sz="11199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Salary Survey</a:t>
            </a:r>
          </a:p>
          <a:p>
            <a:pPr algn="ctr">
              <a:lnSpc>
                <a:spcPts val="15679"/>
              </a:lnSpc>
            </a:pPr>
            <a:r>
              <a:rPr lang="en-US" sz="11199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Analysis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2226" y="6604404"/>
            <a:ext cx="4642871" cy="8293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99"/>
              </a:lnSpc>
            </a:pPr>
            <a:r>
              <a:rPr lang="en-US" sz="4856" b="1">
                <a:solidFill>
                  <a:srgbClr val="000000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Presented By 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11012" y="7686718"/>
            <a:ext cx="6035093" cy="1571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000000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M.Pavithra</a:t>
            </a:r>
          </a:p>
          <a:p>
            <a:pPr algn="l">
              <a:lnSpc>
                <a:spcPts val="6299"/>
              </a:lnSpc>
            </a:pPr>
            <a:r>
              <a:rPr lang="en-US" sz="4500" b="1">
                <a:solidFill>
                  <a:srgbClr val="000000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DADS JULY A COHORT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17171" y="-749141"/>
            <a:ext cx="22722343" cy="22722343"/>
          </a:xfrm>
          <a:custGeom>
            <a:avLst/>
            <a:gdLst/>
            <a:ahLst/>
            <a:cxnLst/>
            <a:rect l="l" t="t" r="r" b="b"/>
            <a:pathLst>
              <a:path w="22722343" h="22722343">
                <a:moveTo>
                  <a:pt x="0" y="0"/>
                </a:moveTo>
                <a:lnTo>
                  <a:pt x="22722342" y="0"/>
                </a:lnTo>
                <a:lnTo>
                  <a:pt x="22722342" y="22722343"/>
                </a:lnTo>
                <a:lnTo>
                  <a:pt x="0" y="22722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545574" y="-8209634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563958" y="6836041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612741" y="-749141"/>
            <a:ext cx="13929934" cy="14006333"/>
          </a:xfrm>
          <a:custGeom>
            <a:avLst/>
            <a:gdLst/>
            <a:ahLst/>
            <a:cxnLst/>
            <a:rect l="l" t="t" r="r" b="b"/>
            <a:pathLst>
              <a:path w="13929934" h="14006333">
                <a:moveTo>
                  <a:pt x="0" y="0"/>
                </a:moveTo>
                <a:lnTo>
                  <a:pt x="13929935" y="0"/>
                </a:lnTo>
                <a:lnTo>
                  <a:pt x="13929935" y="14006333"/>
                </a:lnTo>
                <a:lnTo>
                  <a:pt x="0" y="140063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4178048" y="8150955"/>
            <a:ext cx="13824154" cy="8043144"/>
          </a:xfrm>
          <a:custGeom>
            <a:avLst/>
            <a:gdLst/>
            <a:ahLst/>
            <a:cxnLst/>
            <a:rect l="l" t="t" r="r" b="b"/>
            <a:pathLst>
              <a:path w="13824154" h="8043144">
                <a:moveTo>
                  <a:pt x="0" y="0"/>
                </a:moveTo>
                <a:lnTo>
                  <a:pt x="13824154" y="0"/>
                </a:lnTo>
                <a:lnTo>
                  <a:pt x="13824154" y="8043144"/>
                </a:lnTo>
                <a:lnTo>
                  <a:pt x="0" y="80431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742525" y="600075"/>
            <a:ext cx="11192287" cy="2162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679"/>
              </a:lnSpc>
            </a:pPr>
            <a:r>
              <a:rPr lang="en-US" sz="11199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Project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77573" y="3445704"/>
            <a:ext cx="15332855" cy="5549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074" lvl="1" indent="-377537" algn="l">
              <a:lnSpc>
                <a:spcPts val="4896"/>
              </a:lnSpc>
              <a:buFont typeface="Arial"/>
              <a:buChar char="•"/>
            </a:pPr>
            <a:r>
              <a:rPr lang="en-US" sz="34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The dataset contains salary information from people working in different countries, industries, education levels, and experience ranges. </a:t>
            </a:r>
          </a:p>
          <a:p>
            <a:pPr algn="l">
              <a:lnSpc>
                <a:spcPts val="4896"/>
              </a:lnSpc>
            </a:pPr>
            <a:endParaRPr lang="en-US" sz="3497">
              <a:solidFill>
                <a:srgbClr val="000000"/>
              </a:solidFill>
              <a:latin typeface="Inria Serif"/>
              <a:ea typeface="Inria Serif"/>
              <a:cs typeface="Inria Serif"/>
              <a:sym typeface="Inria Serif"/>
            </a:endParaRPr>
          </a:p>
          <a:p>
            <a:pPr marL="755074" lvl="1" indent="-377537" algn="l">
              <a:lnSpc>
                <a:spcPts val="4896"/>
              </a:lnSpc>
              <a:buFont typeface="Arial"/>
              <a:buChar char="•"/>
            </a:pPr>
            <a:r>
              <a:rPr lang="en-US" sz="34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However, the raw data does not clearly show how salaries change across these groups. </a:t>
            </a:r>
          </a:p>
          <a:p>
            <a:pPr algn="l">
              <a:lnSpc>
                <a:spcPts val="4896"/>
              </a:lnSpc>
            </a:pPr>
            <a:endParaRPr lang="en-US" sz="3497">
              <a:solidFill>
                <a:srgbClr val="000000"/>
              </a:solidFill>
              <a:latin typeface="Inria Serif"/>
              <a:ea typeface="Inria Serif"/>
              <a:cs typeface="Inria Serif"/>
              <a:sym typeface="Inria Serif"/>
            </a:endParaRPr>
          </a:p>
          <a:p>
            <a:pPr marL="755074" lvl="1" indent="-377537" algn="l">
              <a:lnSpc>
                <a:spcPts val="4896"/>
              </a:lnSpc>
              <a:buFont typeface="Arial"/>
              <a:buChar char="•"/>
            </a:pPr>
            <a:r>
              <a:rPr lang="en-US" sz="34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The project aims to organize and analyze this data to understand salary differences and identify important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17171" y="-749141"/>
            <a:ext cx="22722343" cy="22722343"/>
          </a:xfrm>
          <a:custGeom>
            <a:avLst/>
            <a:gdLst/>
            <a:ahLst/>
            <a:cxnLst/>
            <a:rect l="l" t="t" r="r" b="b"/>
            <a:pathLst>
              <a:path w="22722343" h="22722343">
                <a:moveTo>
                  <a:pt x="0" y="0"/>
                </a:moveTo>
                <a:lnTo>
                  <a:pt x="22722342" y="0"/>
                </a:lnTo>
                <a:lnTo>
                  <a:pt x="22722342" y="22722343"/>
                </a:lnTo>
                <a:lnTo>
                  <a:pt x="0" y="22722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545574" y="-8209634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563958" y="6836041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612741" y="-749141"/>
            <a:ext cx="13929934" cy="14006333"/>
          </a:xfrm>
          <a:custGeom>
            <a:avLst/>
            <a:gdLst/>
            <a:ahLst/>
            <a:cxnLst/>
            <a:rect l="l" t="t" r="r" b="b"/>
            <a:pathLst>
              <a:path w="13929934" h="14006333">
                <a:moveTo>
                  <a:pt x="0" y="0"/>
                </a:moveTo>
                <a:lnTo>
                  <a:pt x="13929935" y="0"/>
                </a:lnTo>
                <a:lnTo>
                  <a:pt x="13929935" y="14006333"/>
                </a:lnTo>
                <a:lnTo>
                  <a:pt x="0" y="140063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4178048" y="8150955"/>
            <a:ext cx="13824154" cy="8043144"/>
          </a:xfrm>
          <a:custGeom>
            <a:avLst/>
            <a:gdLst/>
            <a:ahLst/>
            <a:cxnLst/>
            <a:rect l="l" t="t" r="r" b="b"/>
            <a:pathLst>
              <a:path w="13824154" h="8043144">
                <a:moveTo>
                  <a:pt x="0" y="0"/>
                </a:moveTo>
                <a:lnTo>
                  <a:pt x="13824154" y="0"/>
                </a:lnTo>
                <a:lnTo>
                  <a:pt x="13824154" y="8043144"/>
                </a:lnTo>
                <a:lnTo>
                  <a:pt x="0" y="80431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963600" y="394607"/>
            <a:ext cx="11365012" cy="2164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19"/>
              </a:lnSpc>
            </a:pPr>
            <a:r>
              <a:rPr lang="en-US" sz="11228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Project Objective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0398" y="2865761"/>
            <a:ext cx="15847205" cy="6719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306" lvl="1" indent="-345153" algn="l">
              <a:lnSpc>
                <a:spcPts val="4476"/>
              </a:lnSpc>
              <a:buFont typeface="Arial"/>
              <a:buChar char="•"/>
            </a:pPr>
            <a:r>
              <a:rPr lang="en-US" sz="31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To clean and organize the salary dataset for accurate analysis.</a:t>
            </a:r>
          </a:p>
          <a:p>
            <a:pPr algn="l">
              <a:lnSpc>
                <a:spcPts val="4476"/>
              </a:lnSpc>
            </a:pPr>
            <a:endParaRPr lang="en-US" sz="3197">
              <a:solidFill>
                <a:srgbClr val="000000"/>
              </a:solidFill>
              <a:latin typeface="Inria Serif"/>
              <a:ea typeface="Inria Serif"/>
              <a:cs typeface="Inria Serif"/>
              <a:sym typeface="Inria Serif"/>
            </a:endParaRPr>
          </a:p>
          <a:p>
            <a:pPr marL="690306" lvl="1" indent="-345153" algn="l">
              <a:lnSpc>
                <a:spcPts val="4476"/>
              </a:lnSpc>
              <a:buFont typeface="Arial"/>
              <a:buChar char="•"/>
            </a:pPr>
            <a:r>
              <a:rPr lang="en-US" sz="31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To use MySQL queries to explore salary trends and compensation patterns.</a:t>
            </a:r>
          </a:p>
          <a:p>
            <a:pPr algn="l">
              <a:lnSpc>
                <a:spcPts val="4476"/>
              </a:lnSpc>
            </a:pPr>
            <a:endParaRPr lang="en-US" sz="3197">
              <a:solidFill>
                <a:srgbClr val="000000"/>
              </a:solidFill>
              <a:latin typeface="Inria Serif"/>
              <a:ea typeface="Inria Serif"/>
              <a:cs typeface="Inria Serif"/>
              <a:sym typeface="Inria Serif"/>
            </a:endParaRPr>
          </a:p>
          <a:p>
            <a:pPr marL="690306" lvl="1" indent="-345153" algn="l">
              <a:lnSpc>
                <a:spcPts val="4476"/>
              </a:lnSpc>
              <a:buFont typeface="Arial"/>
              <a:buChar char="•"/>
            </a:pPr>
            <a:r>
              <a:rPr lang="en-US" sz="31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To identify differences in salary based on country, industry, education, and experience (Using Pivot tables and Charts).</a:t>
            </a:r>
          </a:p>
          <a:p>
            <a:pPr algn="l">
              <a:lnSpc>
                <a:spcPts val="4476"/>
              </a:lnSpc>
            </a:pPr>
            <a:endParaRPr lang="en-US" sz="3197">
              <a:solidFill>
                <a:srgbClr val="000000"/>
              </a:solidFill>
              <a:latin typeface="Inria Serif"/>
              <a:ea typeface="Inria Serif"/>
              <a:cs typeface="Inria Serif"/>
              <a:sym typeface="Inria Serif"/>
            </a:endParaRPr>
          </a:p>
          <a:p>
            <a:pPr marL="690306" lvl="1" indent="-345153" algn="l">
              <a:lnSpc>
                <a:spcPts val="4476"/>
              </a:lnSpc>
              <a:buFont typeface="Arial"/>
              <a:buChar char="•"/>
            </a:pPr>
            <a:r>
              <a:rPr lang="en-US" sz="31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To create an interactive Excel dashboard with KPIs, slicers, and charts.</a:t>
            </a:r>
          </a:p>
          <a:p>
            <a:pPr algn="l">
              <a:lnSpc>
                <a:spcPts val="4476"/>
              </a:lnSpc>
            </a:pPr>
            <a:endParaRPr lang="en-US" sz="3197">
              <a:solidFill>
                <a:srgbClr val="000000"/>
              </a:solidFill>
              <a:latin typeface="Inria Serif"/>
              <a:ea typeface="Inria Serif"/>
              <a:cs typeface="Inria Serif"/>
              <a:sym typeface="Inria Serif"/>
            </a:endParaRPr>
          </a:p>
          <a:p>
            <a:pPr marL="690306" lvl="1" indent="-345153" algn="l">
              <a:lnSpc>
                <a:spcPts val="4476"/>
              </a:lnSpc>
              <a:buFont typeface="Arial"/>
              <a:buChar char="•"/>
            </a:pPr>
            <a:r>
              <a:rPr lang="en-US" sz="31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To provide clear insights that help understand salary distribution and support better decision-making.</a:t>
            </a:r>
          </a:p>
          <a:p>
            <a:pPr algn="l">
              <a:lnSpc>
                <a:spcPts val="4476"/>
              </a:lnSpc>
            </a:pPr>
            <a:endParaRPr lang="en-US" sz="3197">
              <a:solidFill>
                <a:srgbClr val="000000"/>
              </a:solidFill>
              <a:latin typeface="Inria Serif"/>
              <a:ea typeface="Inria Serif"/>
              <a:cs typeface="Inria Serif"/>
              <a:sym typeface="Inria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17171" y="-749141"/>
            <a:ext cx="22722343" cy="22722343"/>
          </a:xfrm>
          <a:custGeom>
            <a:avLst/>
            <a:gdLst/>
            <a:ahLst/>
            <a:cxnLst/>
            <a:rect l="l" t="t" r="r" b="b"/>
            <a:pathLst>
              <a:path w="22722343" h="22722343">
                <a:moveTo>
                  <a:pt x="0" y="0"/>
                </a:moveTo>
                <a:lnTo>
                  <a:pt x="22722342" y="0"/>
                </a:lnTo>
                <a:lnTo>
                  <a:pt x="22722342" y="22722343"/>
                </a:lnTo>
                <a:lnTo>
                  <a:pt x="0" y="22722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545574" y="-8209634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563958" y="6836041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546083" y="-505801"/>
            <a:ext cx="13929934" cy="14006333"/>
          </a:xfrm>
          <a:custGeom>
            <a:avLst/>
            <a:gdLst/>
            <a:ahLst/>
            <a:cxnLst/>
            <a:rect l="l" t="t" r="r" b="b"/>
            <a:pathLst>
              <a:path w="13929934" h="14006333">
                <a:moveTo>
                  <a:pt x="0" y="0"/>
                </a:moveTo>
                <a:lnTo>
                  <a:pt x="13929934" y="0"/>
                </a:lnTo>
                <a:lnTo>
                  <a:pt x="13929934" y="14006333"/>
                </a:lnTo>
                <a:lnTo>
                  <a:pt x="0" y="140063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4178048" y="8150955"/>
            <a:ext cx="13824154" cy="8043144"/>
          </a:xfrm>
          <a:custGeom>
            <a:avLst/>
            <a:gdLst/>
            <a:ahLst/>
            <a:cxnLst/>
            <a:rect l="l" t="t" r="r" b="b"/>
            <a:pathLst>
              <a:path w="13824154" h="8043144">
                <a:moveTo>
                  <a:pt x="0" y="0"/>
                </a:moveTo>
                <a:lnTo>
                  <a:pt x="13824154" y="0"/>
                </a:lnTo>
                <a:lnTo>
                  <a:pt x="13824154" y="8043144"/>
                </a:lnTo>
                <a:lnTo>
                  <a:pt x="0" y="80431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434307" y="3755255"/>
            <a:ext cx="10824993" cy="5770230"/>
          </a:xfrm>
          <a:custGeom>
            <a:avLst/>
            <a:gdLst/>
            <a:ahLst/>
            <a:cxnLst/>
            <a:rect l="l" t="t" r="r" b="b"/>
            <a:pathLst>
              <a:path w="10824993" h="5770230">
                <a:moveTo>
                  <a:pt x="0" y="0"/>
                </a:moveTo>
                <a:lnTo>
                  <a:pt x="10824993" y="0"/>
                </a:lnTo>
                <a:lnTo>
                  <a:pt x="10824993" y="5770231"/>
                </a:lnTo>
                <a:lnTo>
                  <a:pt x="0" y="57702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421" t="-27821" r="-37226" b="-1135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371453" y="96002"/>
            <a:ext cx="11545094" cy="2164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719"/>
              </a:lnSpc>
            </a:pPr>
            <a:r>
              <a:rPr lang="en-US" sz="11228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Dataset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216675"/>
            <a:ext cx="5364261" cy="4257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endParaRPr/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Key Attributes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Salary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Additional compensation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Job title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Education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Experience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Country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64823" y="2735934"/>
            <a:ext cx="2963961" cy="613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6"/>
              </a:lnSpc>
            </a:pPr>
            <a:r>
              <a:rPr lang="en-US" sz="3597" b="1">
                <a:solidFill>
                  <a:srgbClr val="000000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Raw Dataset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18884" y="7960297"/>
            <a:ext cx="2865990" cy="1028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6"/>
              </a:lnSpc>
            </a:pPr>
            <a:r>
              <a:rPr lang="en-US" sz="2997" b="1">
                <a:solidFill>
                  <a:srgbClr val="000000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Rows        - 1021</a:t>
            </a:r>
          </a:p>
          <a:p>
            <a:pPr algn="l">
              <a:lnSpc>
                <a:spcPts val="4196"/>
              </a:lnSpc>
            </a:pPr>
            <a:r>
              <a:rPr lang="en-US" sz="2997" b="1">
                <a:solidFill>
                  <a:srgbClr val="000000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Columns - 17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2745459"/>
            <a:ext cx="6050061" cy="537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6"/>
              </a:lnSpc>
            </a:pPr>
            <a:r>
              <a:rPr lang="en-US" sz="3197" b="1">
                <a:solidFill>
                  <a:srgbClr val="000000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Dataset   -  Global Salary Survey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17171" y="-749141"/>
            <a:ext cx="22722343" cy="22722343"/>
          </a:xfrm>
          <a:custGeom>
            <a:avLst/>
            <a:gdLst/>
            <a:ahLst/>
            <a:cxnLst/>
            <a:rect l="l" t="t" r="r" b="b"/>
            <a:pathLst>
              <a:path w="22722343" h="22722343">
                <a:moveTo>
                  <a:pt x="0" y="0"/>
                </a:moveTo>
                <a:lnTo>
                  <a:pt x="22722342" y="0"/>
                </a:lnTo>
                <a:lnTo>
                  <a:pt x="22722342" y="22722343"/>
                </a:lnTo>
                <a:lnTo>
                  <a:pt x="0" y="22722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545574" y="-8209634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563958" y="6836041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612741" y="-749141"/>
            <a:ext cx="13929934" cy="14006333"/>
          </a:xfrm>
          <a:custGeom>
            <a:avLst/>
            <a:gdLst/>
            <a:ahLst/>
            <a:cxnLst/>
            <a:rect l="l" t="t" r="r" b="b"/>
            <a:pathLst>
              <a:path w="13929934" h="14006333">
                <a:moveTo>
                  <a:pt x="0" y="0"/>
                </a:moveTo>
                <a:lnTo>
                  <a:pt x="13929935" y="0"/>
                </a:lnTo>
                <a:lnTo>
                  <a:pt x="13929935" y="14006333"/>
                </a:lnTo>
                <a:lnTo>
                  <a:pt x="0" y="140063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4178048" y="8150955"/>
            <a:ext cx="13824154" cy="8043144"/>
          </a:xfrm>
          <a:custGeom>
            <a:avLst/>
            <a:gdLst/>
            <a:ahLst/>
            <a:cxnLst/>
            <a:rect l="l" t="t" r="r" b="b"/>
            <a:pathLst>
              <a:path w="13824154" h="8043144">
                <a:moveTo>
                  <a:pt x="0" y="0"/>
                </a:moveTo>
                <a:lnTo>
                  <a:pt x="13824154" y="0"/>
                </a:lnTo>
                <a:lnTo>
                  <a:pt x="13824154" y="8043144"/>
                </a:lnTo>
                <a:lnTo>
                  <a:pt x="0" y="80431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485878" y="235057"/>
            <a:ext cx="9316243" cy="2164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19"/>
              </a:lnSpc>
            </a:pPr>
            <a:r>
              <a:rPr lang="en-US" sz="11228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Data Cleaning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30768" y="2754750"/>
            <a:ext cx="14230676" cy="6503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Removed duplicate records and unnecessary column like Other Currency.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Handled missing values in Annual salary, compensation fields, education, industry (median values, ‘unknown’ &amp; ‘Not Specified’).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Standardized formats all columns (text, numeric etc).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Converted all other currency formats to </a:t>
            </a:r>
            <a:r>
              <a:rPr lang="en-US" sz="3099" b="1">
                <a:solidFill>
                  <a:srgbClr val="000000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USD</a:t>
            </a:r>
            <a:r>
              <a:rPr lang="en-US" sz="3099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 currency format for better analysis.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Normalized categorical fields by fixed inconsistent spellings and capitalization.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Identified outliers by using conditional formatting and handled outliers using </a:t>
            </a:r>
            <a:r>
              <a:rPr lang="en-US" sz="3099" b="1">
                <a:solidFill>
                  <a:srgbClr val="000000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Interquartile (IQR)</a:t>
            </a:r>
            <a:r>
              <a:rPr lang="en-US" sz="3099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 method.</a:t>
            </a:r>
          </a:p>
          <a:p>
            <a:pPr marL="669289" lvl="1" indent="-334645" algn="l">
              <a:lnSpc>
                <a:spcPts val="4339"/>
              </a:lnSpc>
              <a:buFont typeface="Arial"/>
              <a:buChar char="•"/>
            </a:pPr>
            <a:r>
              <a:rPr lang="en-US" sz="3099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Finally, the dataset is verified and saved the cleaned dataset as </a:t>
            </a:r>
            <a:r>
              <a:rPr lang="en-US" sz="3099" b="1">
                <a:solidFill>
                  <a:srgbClr val="000000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Salary_Survey_Cleaned</a:t>
            </a:r>
            <a:r>
              <a:rPr lang="en-US" sz="3099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 in CSV format to perform MySQL queries.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17171" y="-749141"/>
            <a:ext cx="22722343" cy="22722343"/>
          </a:xfrm>
          <a:custGeom>
            <a:avLst/>
            <a:gdLst/>
            <a:ahLst/>
            <a:cxnLst/>
            <a:rect l="l" t="t" r="r" b="b"/>
            <a:pathLst>
              <a:path w="22722343" h="22722343">
                <a:moveTo>
                  <a:pt x="0" y="0"/>
                </a:moveTo>
                <a:lnTo>
                  <a:pt x="22722342" y="0"/>
                </a:lnTo>
                <a:lnTo>
                  <a:pt x="22722342" y="22722343"/>
                </a:lnTo>
                <a:lnTo>
                  <a:pt x="0" y="22722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545574" y="-8209634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563958" y="6836041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612741" y="-749141"/>
            <a:ext cx="13929934" cy="14006333"/>
          </a:xfrm>
          <a:custGeom>
            <a:avLst/>
            <a:gdLst/>
            <a:ahLst/>
            <a:cxnLst/>
            <a:rect l="l" t="t" r="r" b="b"/>
            <a:pathLst>
              <a:path w="13929934" h="14006333">
                <a:moveTo>
                  <a:pt x="0" y="0"/>
                </a:moveTo>
                <a:lnTo>
                  <a:pt x="13929935" y="0"/>
                </a:lnTo>
                <a:lnTo>
                  <a:pt x="13929935" y="14006333"/>
                </a:lnTo>
                <a:lnTo>
                  <a:pt x="0" y="140063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4178048" y="8150955"/>
            <a:ext cx="13824154" cy="8043144"/>
          </a:xfrm>
          <a:custGeom>
            <a:avLst/>
            <a:gdLst/>
            <a:ahLst/>
            <a:cxnLst/>
            <a:rect l="l" t="t" r="r" b="b"/>
            <a:pathLst>
              <a:path w="13824154" h="8043144">
                <a:moveTo>
                  <a:pt x="0" y="0"/>
                </a:moveTo>
                <a:lnTo>
                  <a:pt x="13824154" y="0"/>
                </a:lnTo>
                <a:lnTo>
                  <a:pt x="13824154" y="8043144"/>
                </a:lnTo>
                <a:lnTo>
                  <a:pt x="0" y="80431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395164" y="5143500"/>
            <a:ext cx="8300820" cy="4607701"/>
          </a:xfrm>
          <a:custGeom>
            <a:avLst/>
            <a:gdLst/>
            <a:ahLst/>
            <a:cxnLst/>
            <a:rect l="l" t="t" r="r" b="b"/>
            <a:pathLst>
              <a:path w="8300820" h="4607701">
                <a:moveTo>
                  <a:pt x="0" y="0"/>
                </a:moveTo>
                <a:lnTo>
                  <a:pt x="8300820" y="0"/>
                </a:lnTo>
                <a:lnTo>
                  <a:pt x="8300820" y="4607701"/>
                </a:lnTo>
                <a:lnTo>
                  <a:pt x="0" y="46077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3031" t="-24027" r="-36832" b="-9829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08405" y="5143500"/>
            <a:ext cx="8264145" cy="4607701"/>
          </a:xfrm>
          <a:custGeom>
            <a:avLst/>
            <a:gdLst/>
            <a:ahLst/>
            <a:cxnLst/>
            <a:rect l="l" t="t" r="r" b="b"/>
            <a:pathLst>
              <a:path w="8264145" h="4607701">
                <a:moveTo>
                  <a:pt x="0" y="0"/>
                </a:moveTo>
                <a:lnTo>
                  <a:pt x="8264145" y="0"/>
                </a:lnTo>
                <a:lnTo>
                  <a:pt x="8264145" y="4607701"/>
                </a:lnTo>
                <a:lnTo>
                  <a:pt x="0" y="46077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963" t="-22325" r="-33786" b="-7973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485878" y="-272501"/>
            <a:ext cx="9316243" cy="2164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19"/>
              </a:lnSpc>
            </a:pPr>
            <a:r>
              <a:rPr lang="en-US" sz="11228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After Cleaning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904390" y="4109280"/>
            <a:ext cx="3282368" cy="613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6"/>
              </a:lnSpc>
            </a:pPr>
            <a:r>
              <a:rPr lang="en-US" sz="3597" b="1">
                <a:solidFill>
                  <a:srgbClr val="000000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After Cleaning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76829" y="4109280"/>
            <a:ext cx="3527297" cy="613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6"/>
              </a:lnSpc>
            </a:pPr>
            <a:r>
              <a:rPr lang="en-US" sz="3597" b="1">
                <a:solidFill>
                  <a:srgbClr val="000000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Before Cleaning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2226" y="2006670"/>
            <a:ext cx="4164111" cy="1552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127" lvl="1" indent="-323563" algn="l">
              <a:lnSpc>
                <a:spcPts val="4196"/>
              </a:lnSpc>
              <a:buFont typeface="Arial"/>
              <a:buChar char="•"/>
            </a:pPr>
            <a:r>
              <a:rPr lang="en-US" sz="2997" b="1">
                <a:solidFill>
                  <a:srgbClr val="000000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Duplicates  - 46</a:t>
            </a:r>
          </a:p>
          <a:p>
            <a:pPr marL="647127" lvl="1" indent="-323563" algn="l">
              <a:lnSpc>
                <a:spcPts val="4196"/>
              </a:lnSpc>
              <a:buFont typeface="Arial"/>
              <a:buChar char="•"/>
            </a:pPr>
            <a:r>
              <a:rPr lang="en-US" sz="2997" b="1">
                <a:solidFill>
                  <a:srgbClr val="000000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Rows             -  975</a:t>
            </a:r>
          </a:p>
          <a:p>
            <a:pPr marL="647127" lvl="1" indent="-323563" algn="l">
              <a:lnSpc>
                <a:spcPts val="4196"/>
              </a:lnSpc>
              <a:buFont typeface="Arial"/>
              <a:buChar char="•"/>
            </a:pPr>
            <a:r>
              <a:rPr lang="en-US" sz="2997" b="1">
                <a:solidFill>
                  <a:srgbClr val="000000"/>
                </a:solidFill>
                <a:latin typeface="Inria Serif Bold"/>
                <a:ea typeface="Inria Serif Bold"/>
                <a:cs typeface="Inria Serif Bold"/>
                <a:sym typeface="Inria Serif Bold"/>
              </a:rPr>
              <a:t>Columns      - 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17171" y="-749141"/>
            <a:ext cx="22722343" cy="22722343"/>
          </a:xfrm>
          <a:custGeom>
            <a:avLst/>
            <a:gdLst/>
            <a:ahLst/>
            <a:cxnLst/>
            <a:rect l="l" t="t" r="r" b="b"/>
            <a:pathLst>
              <a:path w="22722343" h="22722343">
                <a:moveTo>
                  <a:pt x="0" y="0"/>
                </a:moveTo>
                <a:lnTo>
                  <a:pt x="22722342" y="0"/>
                </a:lnTo>
                <a:lnTo>
                  <a:pt x="22722342" y="22722343"/>
                </a:lnTo>
                <a:lnTo>
                  <a:pt x="0" y="22722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545574" y="-8209634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563958" y="6836041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612741" y="-749141"/>
            <a:ext cx="13929934" cy="14006333"/>
          </a:xfrm>
          <a:custGeom>
            <a:avLst/>
            <a:gdLst/>
            <a:ahLst/>
            <a:cxnLst/>
            <a:rect l="l" t="t" r="r" b="b"/>
            <a:pathLst>
              <a:path w="13929934" h="14006333">
                <a:moveTo>
                  <a:pt x="0" y="0"/>
                </a:moveTo>
                <a:lnTo>
                  <a:pt x="13929935" y="0"/>
                </a:lnTo>
                <a:lnTo>
                  <a:pt x="13929935" y="14006333"/>
                </a:lnTo>
                <a:lnTo>
                  <a:pt x="0" y="140063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4178048" y="8150955"/>
            <a:ext cx="13824154" cy="8043144"/>
          </a:xfrm>
          <a:custGeom>
            <a:avLst/>
            <a:gdLst/>
            <a:ahLst/>
            <a:cxnLst/>
            <a:rect l="l" t="t" r="r" b="b"/>
            <a:pathLst>
              <a:path w="13824154" h="8043144">
                <a:moveTo>
                  <a:pt x="0" y="0"/>
                </a:moveTo>
                <a:lnTo>
                  <a:pt x="13824154" y="0"/>
                </a:lnTo>
                <a:lnTo>
                  <a:pt x="13824154" y="8043144"/>
                </a:lnTo>
                <a:lnTo>
                  <a:pt x="0" y="80431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525654" y="3891005"/>
            <a:ext cx="8733646" cy="2165395"/>
          </a:xfrm>
          <a:custGeom>
            <a:avLst/>
            <a:gdLst/>
            <a:ahLst/>
            <a:cxnLst/>
            <a:rect l="l" t="t" r="r" b="b"/>
            <a:pathLst>
              <a:path w="8733646" h="2165395">
                <a:moveTo>
                  <a:pt x="0" y="0"/>
                </a:moveTo>
                <a:lnTo>
                  <a:pt x="8733646" y="0"/>
                </a:lnTo>
                <a:lnTo>
                  <a:pt x="8733646" y="2165395"/>
                </a:lnTo>
                <a:lnTo>
                  <a:pt x="0" y="21653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0899" t="-204893" r="-139047" b="-31637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470219" y="6525525"/>
            <a:ext cx="6150709" cy="3250859"/>
          </a:xfrm>
          <a:custGeom>
            <a:avLst/>
            <a:gdLst/>
            <a:ahLst/>
            <a:cxnLst/>
            <a:rect l="l" t="t" r="r" b="b"/>
            <a:pathLst>
              <a:path w="6150709" h="3250859">
                <a:moveTo>
                  <a:pt x="0" y="0"/>
                </a:moveTo>
                <a:lnTo>
                  <a:pt x="6150709" y="0"/>
                </a:lnTo>
                <a:lnTo>
                  <a:pt x="6150709" y="3250859"/>
                </a:lnTo>
                <a:lnTo>
                  <a:pt x="0" y="32508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73470" t="-330810" r="-347649" b="-92987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4244078"/>
            <a:ext cx="7556211" cy="5126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Average salary by industry &amp; gender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Total compensation by job title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Salary vs education level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Employees by industry &amp; experience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Median salary by age &amp; gender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Highest salary by country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Salary by city &amp; industry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Compensation trends by gender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Total comp by job &amp; experience</a:t>
            </a:r>
          </a:p>
          <a:p>
            <a:pPr marL="626111" lvl="1" indent="-313055" algn="l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Salary by industry, gender &amp; education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57289" y="102084"/>
            <a:ext cx="12773422" cy="2164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19"/>
              </a:lnSpc>
            </a:pPr>
            <a:r>
              <a:rPr lang="en-US" sz="11228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Key MySQL Insights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46601" y="2561738"/>
            <a:ext cx="15194798" cy="976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Imported my Salary_Survey_Cleaned CSV file into MySQL Workbench using Table Data Import Wizard.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17171" y="-749141"/>
            <a:ext cx="22722343" cy="22722343"/>
          </a:xfrm>
          <a:custGeom>
            <a:avLst/>
            <a:gdLst/>
            <a:ahLst/>
            <a:cxnLst/>
            <a:rect l="l" t="t" r="r" b="b"/>
            <a:pathLst>
              <a:path w="22722343" h="22722343">
                <a:moveTo>
                  <a:pt x="0" y="0"/>
                </a:moveTo>
                <a:lnTo>
                  <a:pt x="22722342" y="0"/>
                </a:lnTo>
                <a:lnTo>
                  <a:pt x="22722342" y="22722343"/>
                </a:lnTo>
                <a:lnTo>
                  <a:pt x="0" y="22722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545574" y="-8209634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563958" y="6836041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612741" y="-749141"/>
            <a:ext cx="13929934" cy="14006333"/>
          </a:xfrm>
          <a:custGeom>
            <a:avLst/>
            <a:gdLst/>
            <a:ahLst/>
            <a:cxnLst/>
            <a:rect l="l" t="t" r="r" b="b"/>
            <a:pathLst>
              <a:path w="13929934" h="14006333">
                <a:moveTo>
                  <a:pt x="0" y="0"/>
                </a:moveTo>
                <a:lnTo>
                  <a:pt x="13929935" y="0"/>
                </a:lnTo>
                <a:lnTo>
                  <a:pt x="13929935" y="14006333"/>
                </a:lnTo>
                <a:lnTo>
                  <a:pt x="0" y="140063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4178048" y="8150955"/>
            <a:ext cx="13824154" cy="8043144"/>
          </a:xfrm>
          <a:custGeom>
            <a:avLst/>
            <a:gdLst/>
            <a:ahLst/>
            <a:cxnLst/>
            <a:rect l="l" t="t" r="r" b="b"/>
            <a:pathLst>
              <a:path w="13824154" h="8043144">
                <a:moveTo>
                  <a:pt x="0" y="0"/>
                </a:moveTo>
                <a:lnTo>
                  <a:pt x="13824154" y="0"/>
                </a:lnTo>
                <a:lnTo>
                  <a:pt x="13824154" y="8043144"/>
                </a:lnTo>
                <a:lnTo>
                  <a:pt x="0" y="80431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14388" y="3286808"/>
            <a:ext cx="7984543" cy="2748998"/>
          </a:xfrm>
          <a:custGeom>
            <a:avLst/>
            <a:gdLst/>
            <a:ahLst/>
            <a:cxnLst/>
            <a:rect l="l" t="t" r="r" b="b"/>
            <a:pathLst>
              <a:path w="7984543" h="2748998">
                <a:moveTo>
                  <a:pt x="0" y="0"/>
                </a:moveTo>
                <a:lnTo>
                  <a:pt x="7984542" y="0"/>
                </a:lnTo>
                <a:lnTo>
                  <a:pt x="7984542" y="2748998"/>
                </a:lnTo>
                <a:lnTo>
                  <a:pt x="0" y="27489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1507" t="-262416" r="-209282" b="-14800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378240" y="3286808"/>
            <a:ext cx="8095373" cy="6362432"/>
          </a:xfrm>
          <a:custGeom>
            <a:avLst/>
            <a:gdLst/>
            <a:ahLst/>
            <a:cxnLst/>
            <a:rect l="l" t="t" r="r" b="b"/>
            <a:pathLst>
              <a:path w="8095373" h="6362432">
                <a:moveTo>
                  <a:pt x="0" y="0"/>
                </a:moveTo>
                <a:lnTo>
                  <a:pt x="8095372" y="0"/>
                </a:lnTo>
                <a:lnTo>
                  <a:pt x="8095372" y="6362432"/>
                </a:lnTo>
                <a:lnTo>
                  <a:pt x="0" y="63624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22145" t="-52126" r="-40399" b="-25339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806659" y="6261729"/>
            <a:ext cx="3514161" cy="3387511"/>
          </a:xfrm>
          <a:custGeom>
            <a:avLst/>
            <a:gdLst/>
            <a:ahLst/>
            <a:cxnLst/>
            <a:rect l="l" t="t" r="r" b="b"/>
            <a:pathLst>
              <a:path w="3514161" h="3387511">
                <a:moveTo>
                  <a:pt x="0" y="0"/>
                </a:moveTo>
                <a:lnTo>
                  <a:pt x="3514160" y="0"/>
                </a:lnTo>
                <a:lnTo>
                  <a:pt x="3514160" y="3387511"/>
                </a:lnTo>
                <a:lnTo>
                  <a:pt x="0" y="338751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133033" t="-117253" r="-413105" b="-138841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44423" y="6261729"/>
            <a:ext cx="2928824" cy="3395214"/>
          </a:xfrm>
          <a:custGeom>
            <a:avLst/>
            <a:gdLst/>
            <a:ahLst/>
            <a:cxnLst/>
            <a:rect l="l" t="t" r="r" b="b"/>
            <a:pathLst>
              <a:path w="2928824" h="3395214">
                <a:moveTo>
                  <a:pt x="0" y="0"/>
                </a:moveTo>
                <a:lnTo>
                  <a:pt x="2928823" y="0"/>
                </a:lnTo>
                <a:lnTo>
                  <a:pt x="2928823" y="3395215"/>
                </a:lnTo>
                <a:lnTo>
                  <a:pt x="0" y="339521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52652" t="-86469" r="-267435" b="-97701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632159" y="-272501"/>
            <a:ext cx="14027893" cy="2164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19"/>
              </a:lnSpc>
            </a:pPr>
            <a:r>
              <a:rPr lang="en-US" sz="11228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Pivot Table &amp; Chart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14388" y="1990331"/>
            <a:ext cx="16659225" cy="481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Created Pivot Tables for each queries &amp; respective Charts and Slicers to create interactive Dashboard.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17171" y="-749141"/>
            <a:ext cx="22722343" cy="22722343"/>
          </a:xfrm>
          <a:custGeom>
            <a:avLst/>
            <a:gdLst/>
            <a:ahLst/>
            <a:cxnLst/>
            <a:rect l="l" t="t" r="r" b="b"/>
            <a:pathLst>
              <a:path w="22722343" h="22722343">
                <a:moveTo>
                  <a:pt x="0" y="0"/>
                </a:moveTo>
                <a:lnTo>
                  <a:pt x="22722342" y="0"/>
                </a:lnTo>
                <a:lnTo>
                  <a:pt x="22722342" y="22722343"/>
                </a:lnTo>
                <a:lnTo>
                  <a:pt x="0" y="22722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545574" y="-8209634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563958" y="6836041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612741" y="-749141"/>
            <a:ext cx="13929934" cy="14006333"/>
          </a:xfrm>
          <a:custGeom>
            <a:avLst/>
            <a:gdLst/>
            <a:ahLst/>
            <a:cxnLst/>
            <a:rect l="l" t="t" r="r" b="b"/>
            <a:pathLst>
              <a:path w="13929934" h="14006333">
                <a:moveTo>
                  <a:pt x="0" y="0"/>
                </a:moveTo>
                <a:lnTo>
                  <a:pt x="13929935" y="0"/>
                </a:lnTo>
                <a:lnTo>
                  <a:pt x="13929935" y="14006333"/>
                </a:lnTo>
                <a:lnTo>
                  <a:pt x="0" y="140063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4178048" y="8150955"/>
            <a:ext cx="13824154" cy="8043144"/>
          </a:xfrm>
          <a:custGeom>
            <a:avLst/>
            <a:gdLst/>
            <a:ahLst/>
            <a:cxnLst/>
            <a:rect l="l" t="t" r="r" b="b"/>
            <a:pathLst>
              <a:path w="13824154" h="8043144">
                <a:moveTo>
                  <a:pt x="0" y="0"/>
                </a:moveTo>
                <a:lnTo>
                  <a:pt x="13824154" y="0"/>
                </a:lnTo>
                <a:lnTo>
                  <a:pt x="13824154" y="8043144"/>
                </a:lnTo>
                <a:lnTo>
                  <a:pt x="0" y="80431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64121" y="2309454"/>
            <a:ext cx="17559758" cy="7546243"/>
          </a:xfrm>
          <a:custGeom>
            <a:avLst/>
            <a:gdLst/>
            <a:ahLst/>
            <a:cxnLst/>
            <a:rect l="l" t="t" r="r" b="b"/>
            <a:pathLst>
              <a:path w="17559758" h="7546243">
                <a:moveTo>
                  <a:pt x="0" y="0"/>
                </a:moveTo>
                <a:lnTo>
                  <a:pt x="17559758" y="0"/>
                </a:lnTo>
                <a:lnTo>
                  <a:pt x="17559758" y="7546243"/>
                </a:lnTo>
                <a:lnTo>
                  <a:pt x="0" y="754624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808" t="-20512" r="-2486" b="-8415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632159" y="-272501"/>
            <a:ext cx="14027893" cy="2164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19"/>
              </a:lnSpc>
            </a:pPr>
            <a:r>
              <a:rPr lang="en-US" sz="11228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Dashboard Overview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17171" y="-749141"/>
            <a:ext cx="22722343" cy="22722343"/>
          </a:xfrm>
          <a:custGeom>
            <a:avLst/>
            <a:gdLst/>
            <a:ahLst/>
            <a:cxnLst/>
            <a:rect l="l" t="t" r="r" b="b"/>
            <a:pathLst>
              <a:path w="22722343" h="22722343">
                <a:moveTo>
                  <a:pt x="0" y="0"/>
                </a:moveTo>
                <a:lnTo>
                  <a:pt x="22722342" y="0"/>
                </a:lnTo>
                <a:lnTo>
                  <a:pt x="22722342" y="22722343"/>
                </a:lnTo>
                <a:lnTo>
                  <a:pt x="0" y="22722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545574" y="-8209634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563958" y="6836041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612741" y="-749141"/>
            <a:ext cx="13929934" cy="14006333"/>
          </a:xfrm>
          <a:custGeom>
            <a:avLst/>
            <a:gdLst/>
            <a:ahLst/>
            <a:cxnLst/>
            <a:rect l="l" t="t" r="r" b="b"/>
            <a:pathLst>
              <a:path w="13929934" h="14006333">
                <a:moveTo>
                  <a:pt x="0" y="0"/>
                </a:moveTo>
                <a:lnTo>
                  <a:pt x="13929935" y="0"/>
                </a:lnTo>
                <a:lnTo>
                  <a:pt x="13929935" y="14006333"/>
                </a:lnTo>
                <a:lnTo>
                  <a:pt x="0" y="140063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4178048" y="8150955"/>
            <a:ext cx="13824154" cy="8043144"/>
          </a:xfrm>
          <a:custGeom>
            <a:avLst/>
            <a:gdLst/>
            <a:ahLst/>
            <a:cxnLst/>
            <a:rect l="l" t="t" r="r" b="b"/>
            <a:pathLst>
              <a:path w="13824154" h="8043144">
                <a:moveTo>
                  <a:pt x="0" y="0"/>
                </a:moveTo>
                <a:lnTo>
                  <a:pt x="13824154" y="0"/>
                </a:lnTo>
                <a:lnTo>
                  <a:pt x="13824154" y="8043144"/>
                </a:lnTo>
                <a:lnTo>
                  <a:pt x="0" y="80431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83347" y="168370"/>
            <a:ext cx="10121306" cy="2164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19"/>
              </a:lnSpc>
            </a:pPr>
            <a:r>
              <a:rPr lang="en-US" sz="11228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Overall Insights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2226" y="2779911"/>
            <a:ext cx="15623379" cy="681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3485" lvl="1" indent="-366742" algn="l">
              <a:lnSpc>
                <a:spcPts val="5469"/>
              </a:lnSpc>
              <a:buFont typeface="Arial"/>
              <a:buChar char="•"/>
            </a:pPr>
            <a:r>
              <a:rPr lang="en-US" sz="3397" dirty="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Higher education around $45k leads to better salary packages.</a:t>
            </a:r>
          </a:p>
          <a:p>
            <a:pPr marL="733485" lvl="1" indent="-366742" algn="l">
              <a:lnSpc>
                <a:spcPts val="5469"/>
              </a:lnSpc>
              <a:buFont typeface="Arial"/>
              <a:buChar char="•"/>
            </a:pPr>
            <a:r>
              <a:rPr lang="en-US" sz="3397" dirty="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Software Engineer attained high compensation around $52M comparing to all other Job Titles.</a:t>
            </a:r>
          </a:p>
          <a:p>
            <a:pPr marL="733485" lvl="1" indent="-366742" algn="l">
              <a:lnSpc>
                <a:spcPts val="5469"/>
              </a:lnSpc>
              <a:buFont typeface="Arial"/>
              <a:buChar char="•"/>
            </a:pPr>
            <a:r>
              <a:rPr lang="en-US" sz="3397" dirty="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The highest Salary achieved by India around $163k followed by UAE around $162k whereas the Lowest salary across countries is United Kingdom around $140k.</a:t>
            </a:r>
          </a:p>
          <a:p>
            <a:pPr marL="733485" lvl="1" indent="-366742" algn="l">
              <a:lnSpc>
                <a:spcPts val="5469"/>
              </a:lnSpc>
              <a:buFont typeface="Arial"/>
              <a:buChar char="•"/>
            </a:pPr>
            <a:r>
              <a:rPr lang="en-US" sz="3397" dirty="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Comparing to all other fields, Information Technology has the highest number of employees in the Industry.</a:t>
            </a:r>
          </a:p>
          <a:p>
            <a:pPr marL="733485" lvl="1" indent="-366742" algn="l">
              <a:lnSpc>
                <a:spcPts val="5469"/>
              </a:lnSpc>
              <a:buFont typeface="Arial"/>
              <a:buChar char="•"/>
            </a:pPr>
            <a:r>
              <a:rPr lang="en-US" sz="3397" dirty="0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Non-Binary (85.48%) in Gender received highest bonus percentage followed by Female (84.65%).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17171" y="-749141"/>
            <a:ext cx="22722343" cy="22722343"/>
          </a:xfrm>
          <a:custGeom>
            <a:avLst/>
            <a:gdLst/>
            <a:ahLst/>
            <a:cxnLst/>
            <a:rect l="l" t="t" r="r" b="b"/>
            <a:pathLst>
              <a:path w="22722343" h="22722343">
                <a:moveTo>
                  <a:pt x="0" y="0"/>
                </a:moveTo>
                <a:lnTo>
                  <a:pt x="22722342" y="0"/>
                </a:lnTo>
                <a:lnTo>
                  <a:pt x="22722342" y="22722343"/>
                </a:lnTo>
                <a:lnTo>
                  <a:pt x="0" y="22722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545574" y="-8209634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563958" y="6836041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612741" y="-749141"/>
            <a:ext cx="13929934" cy="14006333"/>
          </a:xfrm>
          <a:custGeom>
            <a:avLst/>
            <a:gdLst/>
            <a:ahLst/>
            <a:cxnLst/>
            <a:rect l="l" t="t" r="r" b="b"/>
            <a:pathLst>
              <a:path w="13929934" h="14006333">
                <a:moveTo>
                  <a:pt x="0" y="0"/>
                </a:moveTo>
                <a:lnTo>
                  <a:pt x="13929935" y="0"/>
                </a:lnTo>
                <a:lnTo>
                  <a:pt x="13929935" y="14006333"/>
                </a:lnTo>
                <a:lnTo>
                  <a:pt x="0" y="140063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4178048" y="8150955"/>
            <a:ext cx="13824154" cy="8043144"/>
          </a:xfrm>
          <a:custGeom>
            <a:avLst/>
            <a:gdLst/>
            <a:ahLst/>
            <a:cxnLst/>
            <a:rect l="l" t="t" r="r" b="b"/>
            <a:pathLst>
              <a:path w="13824154" h="8043144">
                <a:moveTo>
                  <a:pt x="0" y="0"/>
                </a:moveTo>
                <a:lnTo>
                  <a:pt x="13824154" y="0"/>
                </a:lnTo>
                <a:lnTo>
                  <a:pt x="13824154" y="8043144"/>
                </a:lnTo>
                <a:lnTo>
                  <a:pt x="0" y="80431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243677" y="137086"/>
            <a:ext cx="7800646" cy="2164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19"/>
              </a:lnSpc>
            </a:pPr>
            <a:r>
              <a:rPr lang="en-US" sz="11228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Conclusion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09507" y="2833516"/>
            <a:ext cx="16068986" cy="61290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3485" lvl="1" indent="-366742" algn="l">
              <a:lnSpc>
                <a:spcPts val="5469"/>
              </a:lnSpc>
              <a:buFont typeface="Arial"/>
              <a:buChar char="•"/>
            </a:pPr>
            <a:r>
              <a:rPr lang="en-US" sz="33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The raw uncleaned dataset is formatted, cleaned and imported into MySQL.</a:t>
            </a:r>
          </a:p>
          <a:p>
            <a:pPr marL="733485" lvl="1" indent="-366742" algn="l">
              <a:lnSpc>
                <a:spcPts val="5469"/>
              </a:lnSpc>
              <a:buFont typeface="Arial"/>
              <a:buChar char="•"/>
            </a:pPr>
            <a:r>
              <a:rPr lang="en-US" sz="33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Queries were performed to understand the salary trends.</a:t>
            </a:r>
          </a:p>
          <a:p>
            <a:pPr marL="733485" lvl="1" indent="-366742" algn="l">
              <a:lnSpc>
                <a:spcPts val="5469"/>
              </a:lnSpc>
              <a:buFont typeface="Arial"/>
              <a:buChar char="•"/>
            </a:pPr>
            <a:r>
              <a:rPr lang="en-US" sz="33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Created Dashboard for visualization of salary and compensation patterns across various attributes.</a:t>
            </a:r>
          </a:p>
          <a:p>
            <a:pPr marL="733485" lvl="1" indent="-366742" algn="l">
              <a:lnSpc>
                <a:spcPts val="5469"/>
              </a:lnSpc>
              <a:buFont typeface="Arial"/>
              <a:buChar char="•"/>
            </a:pPr>
            <a:r>
              <a:rPr lang="en-US" sz="33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Experience, education, and industry strongly influence salary levels.</a:t>
            </a:r>
          </a:p>
          <a:p>
            <a:pPr marL="733485" lvl="1" indent="-366742" algn="l">
              <a:lnSpc>
                <a:spcPts val="5469"/>
              </a:lnSpc>
              <a:buFont typeface="Arial"/>
              <a:buChar char="•"/>
            </a:pPr>
            <a:r>
              <a:rPr lang="en-US" sz="33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IT, Finance, and Healthcare are the top-paying industries.</a:t>
            </a:r>
          </a:p>
          <a:p>
            <a:pPr marL="733485" lvl="1" indent="-366742" algn="l">
              <a:lnSpc>
                <a:spcPts val="5469"/>
              </a:lnSpc>
              <a:buFont typeface="Arial"/>
              <a:buChar char="•"/>
            </a:pPr>
            <a:r>
              <a:rPr lang="en-US" sz="33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India has the highest average salary in the dataset.</a:t>
            </a:r>
          </a:p>
          <a:p>
            <a:pPr marL="733485" lvl="1" indent="-366742" algn="l">
              <a:lnSpc>
                <a:spcPts val="5469"/>
              </a:lnSpc>
              <a:buFont typeface="Arial"/>
              <a:buChar char="•"/>
            </a:pPr>
            <a:r>
              <a:rPr lang="en-US" sz="33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Overall the project gives the better visualization and insights which support better decision making.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17171" y="-749141"/>
            <a:ext cx="22722343" cy="22722343"/>
          </a:xfrm>
          <a:custGeom>
            <a:avLst/>
            <a:gdLst/>
            <a:ahLst/>
            <a:cxnLst/>
            <a:rect l="l" t="t" r="r" b="b"/>
            <a:pathLst>
              <a:path w="22722343" h="22722343">
                <a:moveTo>
                  <a:pt x="0" y="0"/>
                </a:moveTo>
                <a:lnTo>
                  <a:pt x="22722342" y="0"/>
                </a:lnTo>
                <a:lnTo>
                  <a:pt x="22722342" y="22722343"/>
                </a:lnTo>
                <a:lnTo>
                  <a:pt x="0" y="22722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545574" y="-8209634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563958" y="6836041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89"/>
                </a:lnTo>
                <a:lnTo>
                  <a:pt x="0" y="11964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612741" y="-749141"/>
            <a:ext cx="13929934" cy="14006333"/>
          </a:xfrm>
          <a:custGeom>
            <a:avLst/>
            <a:gdLst/>
            <a:ahLst/>
            <a:cxnLst/>
            <a:rect l="l" t="t" r="r" b="b"/>
            <a:pathLst>
              <a:path w="13929934" h="14006333">
                <a:moveTo>
                  <a:pt x="0" y="0"/>
                </a:moveTo>
                <a:lnTo>
                  <a:pt x="13929935" y="0"/>
                </a:lnTo>
                <a:lnTo>
                  <a:pt x="13929935" y="14006333"/>
                </a:lnTo>
                <a:lnTo>
                  <a:pt x="0" y="140063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4178048" y="8150955"/>
            <a:ext cx="13824154" cy="8043144"/>
          </a:xfrm>
          <a:custGeom>
            <a:avLst/>
            <a:gdLst/>
            <a:ahLst/>
            <a:cxnLst/>
            <a:rect l="l" t="t" r="r" b="b"/>
            <a:pathLst>
              <a:path w="13824154" h="8043144">
                <a:moveTo>
                  <a:pt x="0" y="0"/>
                </a:moveTo>
                <a:lnTo>
                  <a:pt x="13824154" y="0"/>
                </a:lnTo>
                <a:lnTo>
                  <a:pt x="13824154" y="8043144"/>
                </a:lnTo>
                <a:lnTo>
                  <a:pt x="0" y="80431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941348" y="161579"/>
            <a:ext cx="12405303" cy="2164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719"/>
              </a:lnSpc>
            </a:pPr>
            <a:r>
              <a:rPr lang="en-US" sz="11228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Recommendations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503169" y="2443420"/>
            <a:ext cx="13942974" cy="6814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3485" lvl="1" indent="-366742" algn="l">
              <a:lnSpc>
                <a:spcPts val="5469"/>
              </a:lnSpc>
              <a:buFont typeface="Arial"/>
              <a:buChar char="•"/>
            </a:pPr>
            <a:r>
              <a:rPr lang="en-US" sz="33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Encourage skill development to increase employee value.</a:t>
            </a:r>
          </a:p>
          <a:p>
            <a:pPr marL="733485" lvl="1" indent="-366742" algn="l">
              <a:lnSpc>
                <a:spcPts val="5469"/>
              </a:lnSpc>
              <a:buFont typeface="Arial"/>
              <a:buChar char="•"/>
            </a:pPr>
            <a:r>
              <a:rPr lang="en-US" sz="33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Ensure fair pay across gender and similar job roles.</a:t>
            </a:r>
          </a:p>
          <a:p>
            <a:pPr marL="733485" lvl="1" indent="-366742" algn="l">
              <a:lnSpc>
                <a:spcPts val="5469"/>
              </a:lnSpc>
              <a:buFont typeface="Arial"/>
              <a:buChar char="•"/>
            </a:pPr>
            <a:r>
              <a:rPr lang="en-US" sz="33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Offer bonuses or incentives to retain skilled workers.</a:t>
            </a:r>
          </a:p>
          <a:p>
            <a:pPr marL="733485" lvl="1" indent="-366742" algn="l">
              <a:lnSpc>
                <a:spcPts val="5469"/>
              </a:lnSpc>
              <a:buFont typeface="Arial"/>
              <a:buChar char="•"/>
            </a:pPr>
            <a:r>
              <a:rPr lang="en-US" sz="33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Review salaries regularly to stay competitive.</a:t>
            </a:r>
          </a:p>
          <a:p>
            <a:pPr marL="733485" lvl="1" indent="-366742" algn="l">
              <a:lnSpc>
                <a:spcPts val="5469"/>
              </a:lnSpc>
              <a:buFont typeface="Arial"/>
              <a:buChar char="•"/>
            </a:pPr>
            <a:r>
              <a:rPr lang="en-US" sz="33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Use dashboards to track salary and experience trends.</a:t>
            </a:r>
          </a:p>
          <a:p>
            <a:pPr marL="733485" lvl="1" indent="-366742" algn="l">
              <a:lnSpc>
                <a:spcPts val="5469"/>
              </a:lnSpc>
              <a:buFont typeface="Arial"/>
              <a:buChar char="•"/>
            </a:pPr>
            <a:r>
              <a:rPr lang="en-US" sz="33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Promote transparency in salary structure to build employee trust.</a:t>
            </a:r>
          </a:p>
          <a:p>
            <a:pPr marL="733485" lvl="1" indent="-366742" algn="l">
              <a:lnSpc>
                <a:spcPts val="5469"/>
              </a:lnSpc>
              <a:buFont typeface="Arial"/>
              <a:buChar char="•"/>
            </a:pPr>
            <a:r>
              <a:rPr lang="en-US" sz="33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Focus on hiring in high-growth industries where salary trends are increasing.</a:t>
            </a:r>
          </a:p>
          <a:p>
            <a:pPr marL="733485" lvl="1" indent="-366742" algn="l">
              <a:lnSpc>
                <a:spcPts val="5469"/>
              </a:lnSpc>
              <a:buFont typeface="Arial"/>
              <a:buChar char="•"/>
            </a:pPr>
            <a:r>
              <a:rPr lang="en-US" sz="33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Compare pay with other industries to stay updated.</a:t>
            </a:r>
          </a:p>
          <a:p>
            <a:pPr marL="733485" lvl="1" indent="-366742" algn="l">
              <a:lnSpc>
                <a:spcPts val="5469"/>
              </a:lnSpc>
              <a:buFont typeface="Arial"/>
              <a:buChar char="•"/>
            </a:pPr>
            <a:r>
              <a:rPr lang="en-US" sz="3397">
                <a:solidFill>
                  <a:srgbClr val="000000"/>
                </a:solidFill>
                <a:latin typeface="Inria Serif"/>
                <a:ea typeface="Inria Serif"/>
                <a:cs typeface="Inria Serif"/>
                <a:sym typeface="Inria Serif"/>
              </a:rPr>
              <a:t>Keep data clean and updated for better HR analysis.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217171" y="-749141"/>
            <a:ext cx="22722343" cy="22722343"/>
          </a:xfrm>
          <a:custGeom>
            <a:avLst/>
            <a:gdLst/>
            <a:ahLst/>
            <a:cxnLst/>
            <a:rect l="l" t="t" r="r" b="b"/>
            <a:pathLst>
              <a:path w="22722343" h="22722343">
                <a:moveTo>
                  <a:pt x="0" y="0"/>
                </a:moveTo>
                <a:lnTo>
                  <a:pt x="22722342" y="0"/>
                </a:lnTo>
                <a:lnTo>
                  <a:pt x="22722342" y="22722343"/>
                </a:lnTo>
                <a:lnTo>
                  <a:pt x="0" y="227223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09487" y="0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90"/>
                </a:lnTo>
                <a:lnTo>
                  <a:pt x="0" y="119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595903" y="0"/>
            <a:ext cx="11899627" cy="11964890"/>
          </a:xfrm>
          <a:custGeom>
            <a:avLst/>
            <a:gdLst/>
            <a:ahLst/>
            <a:cxnLst/>
            <a:rect l="l" t="t" r="r" b="b"/>
            <a:pathLst>
              <a:path w="11899627" h="11964890">
                <a:moveTo>
                  <a:pt x="0" y="0"/>
                </a:moveTo>
                <a:lnTo>
                  <a:pt x="11899626" y="0"/>
                </a:lnTo>
                <a:lnTo>
                  <a:pt x="11899626" y="11964890"/>
                </a:lnTo>
                <a:lnTo>
                  <a:pt x="0" y="11964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612741" y="-749141"/>
            <a:ext cx="13929934" cy="14006333"/>
          </a:xfrm>
          <a:custGeom>
            <a:avLst/>
            <a:gdLst/>
            <a:ahLst/>
            <a:cxnLst/>
            <a:rect l="l" t="t" r="r" b="b"/>
            <a:pathLst>
              <a:path w="13929934" h="14006333">
                <a:moveTo>
                  <a:pt x="0" y="0"/>
                </a:moveTo>
                <a:lnTo>
                  <a:pt x="13929935" y="0"/>
                </a:lnTo>
                <a:lnTo>
                  <a:pt x="13929935" y="14006333"/>
                </a:lnTo>
                <a:lnTo>
                  <a:pt x="0" y="140063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4178048" y="8150955"/>
            <a:ext cx="13824154" cy="8043144"/>
          </a:xfrm>
          <a:custGeom>
            <a:avLst/>
            <a:gdLst/>
            <a:ahLst/>
            <a:cxnLst/>
            <a:rect l="l" t="t" r="r" b="b"/>
            <a:pathLst>
              <a:path w="13824154" h="8043144">
                <a:moveTo>
                  <a:pt x="0" y="0"/>
                </a:moveTo>
                <a:lnTo>
                  <a:pt x="13824154" y="0"/>
                </a:lnTo>
                <a:lnTo>
                  <a:pt x="13824154" y="8043144"/>
                </a:lnTo>
                <a:lnTo>
                  <a:pt x="0" y="804314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375368" y="3151025"/>
            <a:ext cx="10541476" cy="331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01"/>
              </a:lnSpc>
            </a:pPr>
            <a:r>
              <a:rPr lang="en-US" sz="17215" b="1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651</Words>
  <Application>Microsoft Office PowerPoint</Application>
  <PresentationFormat>Custom</PresentationFormat>
  <Paragraphs>88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Inria Serif</vt:lpstr>
      <vt:lpstr>Arial</vt:lpstr>
      <vt:lpstr>Calibri</vt:lpstr>
      <vt:lpstr>Inria Serif Bold</vt:lpstr>
      <vt:lpstr>The Seasons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Tosca Formal Thesis Presentation</dc:title>
  <cp:lastModifiedBy>WELCOME</cp:lastModifiedBy>
  <cp:revision>1</cp:revision>
  <dcterms:created xsi:type="dcterms:W3CDTF">2006-08-16T00:00:00Z</dcterms:created>
  <dcterms:modified xsi:type="dcterms:W3CDTF">2025-11-14T07:18:02Z</dcterms:modified>
  <dc:identifier>DAG4Ra2wIpY</dc:identifier>
</cp:coreProperties>
</file>